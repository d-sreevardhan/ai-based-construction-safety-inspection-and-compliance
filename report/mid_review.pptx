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4" r:id="rId9"/>
    <p:sldId id="263" r:id="rId10"/>
    <p:sldId id="264" r:id="rId11"/>
    <p:sldId id="265" r:id="rId12"/>
    <p:sldId id="266" r:id="rId13"/>
    <p:sldId id="269" r:id="rId14"/>
    <p:sldId id="270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3" r:id="rId2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3"/>
    <p:restoredTop sz="94700"/>
  </p:normalViewPr>
  <p:slideViewPr>
    <p:cSldViewPr snapToGrid="0" snapToObjects="1">
      <p:cViewPr varScale="1">
        <p:scale>
          <a:sx n="108" d="100"/>
          <a:sy n="108" d="100"/>
        </p:scale>
        <p:origin x="224" y="20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07465" y="2533364"/>
            <a:ext cx="1088136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2C2520"/>
                </a:solidFill>
                <a:latin typeface="Calibri"/>
              </a:rPr>
              <a:t>AI-Based Construction Safety Inspection and Compliance</a:t>
            </a:r>
            <a:endParaRPr lang="en-US" sz="3600" b="1" i="0" dirty="0">
              <a:solidFill>
                <a:srgbClr val="2C2520"/>
              </a:solidFill>
              <a:latin typeface="Calibri"/>
            </a:endParaRPr>
          </a:p>
          <a:p>
            <a:pPr algn="l"/>
            <a:endParaRPr lang="en-US" sz="3600" b="1" dirty="0">
              <a:solidFill>
                <a:srgbClr val="2C2520"/>
              </a:solidFill>
              <a:latin typeface="Calibri"/>
            </a:endParaRPr>
          </a:p>
          <a:p>
            <a:pPr algn="l"/>
            <a:r>
              <a:rPr lang="en-US" sz="1600" b="1" dirty="0">
                <a:solidFill>
                  <a:srgbClr val="2C2520"/>
                </a:solidFill>
                <a:latin typeface="Calibri"/>
              </a:rPr>
              <a:t>Nithin H – 1RVU23CSE314</a:t>
            </a:r>
          </a:p>
          <a:p>
            <a:pPr algn="l"/>
            <a:r>
              <a:rPr lang="en-US" sz="1600" b="1" i="0" dirty="0">
                <a:solidFill>
                  <a:srgbClr val="2C2520"/>
                </a:solidFill>
                <a:latin typeface="Calibri"/>
              </a:rPr>
              <a:t>Panav Kumar K – 1RVU23CSE331</a:t>
            </a:r>
          </a:p>
          <a:p>
            <a:pPr algn="l"/>
            <a:r>
              <a:rPr lang="en-US" sz="1600" b="1" dirty="0">
                <a:solidFill>
                  <a:srgbClr val="2C2520"/>
                </a:solidFill>
                <a:latin typeface="Calibri"/>
              </a:rPr>
              <a:t>Pranav Nayak – 1RVU23CSE344</a:t>
            </a:r>
          </a:p>
          <a:p>
            <a:pPr algn="l"/>
            <a:r>
              <a:rPr lang="en-US" sz="1600" b="1" dirty="0" err="1">
                <a:solidFill>
                  <a:srgbClr val="2C2520"/>
                </a:solidFill>
                <a:latin typeface="Calibri"/>
              </a:rPr>
              <a:t>Desu</a:t>
            </a:r>
            <a:r>
              <a:rPr lang="en-US" sz="1600" b="1" dirty="0">
                <a:solidFill>
                  <a:srgbClr val="2C2520"/>
                </a:solidFill>
                <a:latin typeface="Calibri"/>
              </a:rPr>
              <a:t> Sree Vardhan – 1RUA24CSE7004</a:t>
            </a:r>
            <a:endParaRPr lang="en-US" sz="1600" b="1" i="0" dirty="0">
              <a:solidFill>
                <a:srgbClr val="2C2520"/>
              </a:solidFill>
              <a:latin typeface="Calibri"/>
            </a:endParaRPr>
          </a:p>
          <a:p>
            <a:pPr algn="l"/>
            <a:endParaRPr sz="1600" b="1" i="0" dirty="0">
              <a:solidFill>
                <a:srgbClr val="2C252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8905" y="1786963"/>
            <a:ext cx="10789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6B5E52"/>
                </a:solidFill>
                <a:latin typeface="Calibri"/>
              </a:rPr>
              <a:t>Mid-review video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How the presentation is organised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 i="0">
                <a:solidFill>
                  <a:srgbClr val="6B5E52"/>
                </a:solidFill>
                <a:latin typeface="Calibri"/>
              </a:rPr>
              <a:t>One connected argument split across four speakers, roughly five minutes each.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98448"/>
          <a:ext cx="11201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2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Speaker</a:t>
                      </a:r>
                    </a:p>
                  </a:txBody>
                  <a:tcPr marR="73152" anchor="ctr">
                    <a:solidFill>
                      <a:srgbClr val="2C25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marR="73152" anchor="ctr">
                    <a:solidFill>
                      <a:srgbClr val="2C25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What it covers</a:t>
                      </a:r>
                    </a:p>
                  </a:txBody>
                  <a:tcPr marR="73152" anchor="ctr">
                    <a:solidFill>
                      <a:srgbClr val="2C2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35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3530"/>
                          </a:solidFill>
                          <a:latin typeface="Calibri"/>
                        </a:rPr>
                        <a:t>Why computer vision first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3530"/>
                          </a:solidFill>
                          <a:latin typeface="Calibri"/>
                        </a:rPr>
                        <a:t>Motivation, precise problem statement, the CV pipeline, and the incident record it produces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35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3530"/>
                          </a:solidFill>
                          <a:latin typeface="Calibri"/>
                        </a:rPr>
                        <a:t>PPE and detection literature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3530"/>
                          </a:solidFill>
                          <a:latin typeface="Calibri"/>
                        </a:rPr>
                        <a:t>Six papers on construction PPE detection and the YOLO detector family, then what detection alone cannot do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35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3530"/>
                          </a:solidFill>
                          <a:latin typeface="Calibri"/>
                        </a:rPr>
                        <a:t>Tracking and activity literature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3530"/>
                          </a:solidFill>
                          <a:latin typeface="Calibri"/>
                        </a:rPr>
                        <a:t>Six papers on multi-object tracking, harness detection and construction activity recognition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353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3530"/>
                          </a:solidFill>
                          <a:latin typeface="Calibri"/>
                        </a:rPr>
                        <a:t>Multimodal models and evaluation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3530"/>
                          </a:solidFill>
                          <a:latin typeface="Calibri"/>
                        </a:rPr>
                        <a:t>Three papers on vision-language models, the research gaps, our evaluation plan and scope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CCTV is already everywhere, but safety review is still reactive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 i="0">
                <a:solidFill>
                  <a:srgbClr val="6B5E52"/>
                </a:solidFill>
                <a:latin typeface="Calibri"/>
              </a:rPr>
              <a:t>The footage exists. What is missing is anything that turns it into a decision.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3708"/>
            <a:ext cx="11201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THE SITUATION ON SITE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98884"/>
            <a:ext cx="112014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62892"/>
            <a:ext cx="11201400" cy="1392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500" b="0" i="0">
                <a:solidFill>
                  <a:srgbClr val="3A3530"/>
                </a:solidFill>
                <a:latin typeface="Calibri"/>
              </a:rPr>
              <a:t>•   A large site has hundreds of workers and moving plant, supervised by a handful of safety officers</a:t>
            </a:r>
          </a:p>
          <a:p>
            <a:pPr marL="146050" indent="-146050">
              <a:spcBef>
                <a:spcPts val="500"/>
              </a:spcBef>
            </a:pPr>
            <a:r>
              <a:rPr sz="1500" b="0" i="0">
                <a:solidFill>
                  <a:srgbClr val="3A3530"/>
                </a:solidFill>
                <a:latin typeface="Calibri"/>
              </a:rPr>
              <a:t>•   Cameras are already installed almost everywhere, so the video exists, but nobody can watch it live</a:t>
            </a:r>
          </a:p>
          <a:p>
            <a:pPr marL="146050" indent="-146050">
              <a:spcBef>
                <a:spcPts val="500"/>
              </a:spcBef>
            </a:pPr>
            <a:r>
              <a:rPr sz="1500" b="0" i="0">
                <a:solidFill>
                  <a:srgbClr val="3A3530"/>
                </a:solidFill>
                <a:latin typeface="Calibri"/>
              </a:rPr>
              <a:t>•   Review usually happens after an accident, when footage becomes evidence rather than prevention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82573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9B4A2A"/>
                </a:solidFill>
                <a:latin typeface="Calibri"/>
              </a:rPr>
              <a:t>WHY A BARE ALERT IS NOT ENOUGH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847749"/>
            <a:ext cx="5372100" cy="13970"/>
          </a:xfrm>
          <a:prstGeom prst="rect">
            <a:avLst/>
          </a:prstGeom>
          <a:solidFill>
            <a:srgbClr val="9B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911757"/>
            <a:ext cx="5372100" cy="2162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500" b="0" i="0">
                <a:solidFill>
                  <a:srgbClr val="3A3530"/>
                </a:solidFill>
                <a:latin typeface="Calibri"/>
              </a:rPr>
              <a:t>•   Helmet missing does not say which worker, or for how long</a:t>
            </a:r>
          </a:p>
          <a:p>
            <a:pPr marL="146050" indent="-146050">
              <a:spcBef>
                <a:spcPts val="500"/>
              </a:spcBef>
            </a:pPr>
            <a:r>
              <a:rPr sz="1500" b="0" i="0">
                <a:solidFill>
                  <a:srgbClr val="3A3530"/>
                </a:solidFill>
                <a:latin typeface="Calibri"/>
              </a:rPr>
              <a:t>•   It carries no image, so the call cannot be verified or disputed</a:t>
            </a:r>
          </a:p>
          <a:p>
            <a:pPr marL="146050" indent="-146050">
              <a:spcBef>
                <a:spcPts val="500"/>
              </a:spcBef>
            </a:pPr>
            <a:r>
              <a:rPr sz="1500" b="0" i="0">
                <a:solidFill>
                  <a:srgbClr val="3A3530"/>
                </a:solidFill>
                <a:latin typeface="Calibri"/>
              </a:rPr>
              <a:t>•   It repeats every frame, so one violation becomes hundreds of alerts</a:t>
            </a:r>
          </a:p>
          <a:p>
            <a:pPr marL="146050" indent="-146050">
              <a:spcBef>
                <a:spcPts val="500"/>
              </a:spcBef>
            </a:pPr>
            <a:r>
              <a:rPr sz="1500" b="0" i="0">
                <a:solidFill>
                  <a:srgbClr val="3A3530"/>
                </a:solidFill>
                <a:latin typeface="Calibri"/>
              </a:rPr>
              <a:t>•   With no record there is nothing to audit, assign or close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2220" y="3582573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2F6F4E"/>
                </a:solidFill>
                <a:latin typeface="Calibri"/>
              </a:rPr>
              <a:t>WHAT A SAFETY OFFICER ACTUALLY NEEDS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2220" y="3847749"/>
            <a:ext cx="5372100" cy="1397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2220" y="3911757"/>
            <a:ext cx="5372100" cy="2162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500" b="0" i="0">
                <a:solidFill>
                  <a:srgbClr val="3A3530"/>
                </a:solidFill>
                <a:latin typeface="Calibri"/>
              </a:rPr>
              <a:t>•   A specific worker, a time range, and the named rule that was broken</a:t>
            </a:r>
          </a:p>
          <a:p>
            <a:pPr marL="146050" indent="-146050">
              <a:spcBef>
                <a:spcPts val="500"/>
              </a:spcBef>
            </a:pPr>
            <a:r>
              <a:rPr sz="1500" b="0" i="0">
                <a:solidFill>
                  <a:srgbClr val="3A3530"/>
                </a:solidFill>
                <a:latin typeface="Calibri"/>
              </a:rPr>
              <a:t>•   The evidence crop that triggered it, so the call can be checked</a:t>
            </a:r>
          </a:p>
          <a:p>
            <a:pPr marL="146050" indent="-146050">
              <a:spcBef>
                <a:spcPts val="500"/>
              </a:spcBef>
            </a:pPr>
            <a:r>
              <a:rPr sz="1500" b="0" i="0">
                <a:solidFill>
                  <a:srgbClr val="3A3530"/>
                </a:solidFill>
                <a:latin typeface="Calibri"/>
              </a:rPr>
              <a:t>•   An honest uncertainty state when the camera simply could not see</a:t>
            </a:r>
          </a:p>
          <a:p>
            <a:pPr marL="146050" indent="-146050">
              <a:spcBef>
                <a:spcPts val="500"/>
              </a:spcBef>
            </a:pPr>
            <a:r>
              <a:rPr sz="1500" b="0" i="0">
                <a:solidFill>
                  <a:srgbClr val="3A3530"/>
                </a:solidFill>
                <a:latin typeface="Calibri"/>
              </a:rPr>
              <a:t>•   A plain explanation of why it matters and what to do next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Problem statement: from raw video to reviewable incidents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 i="0">
                <a:solidFill>
                  <a:srgbClr val="6B5E52"/>
                </a:solidFill>
                <a:latin typeface="Calibri"/>
              </a:rPr>
              <a:t>Stated as one sentence, then broken into what must be seen and what must be reasoned.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27272"/>
            <a:ext cx="11201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PRECISE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92448"/>
            <a:ext cx="112014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56456"/>
            <a:ext cx="11201400" cy="71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300" b="0" i="0">
                <a:solidFill>
                  <a:srgbClr val="3A3530"/>
                </a:solidFill>
                <a:latin typeface="Calibri"/>
              </a:rPr>
              <a:t>•   Build a video-analysis system that takes pre-recorded construction footage, detects safety hazards, tracks the worker involved, classifies the PPE evidence, and emits incident records carrying rule, severity, duration and an evidence crop.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6686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WHAT MUST BE PERCEIVED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3204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796052"/>
            <a:ext cx="537210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300" b="0" i="0">
                <a:solidFill>
                  <a:srgbClr val="3A3530"/>
                </a:solidFill>
                <a:latin typeface="Calibri"/>
              </a:rPr>
              <a:t>•   Workers, and whether each wears a helmet and a high-visibility vest</a:t>
            </a:r>
          </a:p>
          <a:p>
            <a:pPr marL="146050" indent="-146050">
              <a:spcBef>
                <a:spcPts val="500"/>
              </a:spcBef>
            </a:pPr>
            <a:r>
              <a:rPr sz="1300" b="0" i="0">
                <a:solidFill>
                  <a:srgbClr val="3A3530"/>
                </a:solidFill>
                <a:latin typeface="Calibri"/>
              </a:rPr>
              <a:t>•   Machinery and plant, so worker-to-equipment proximity can be measured</a:t>
            </a:r>
          </a:p>
          <a:p>
            <a:pPr marL="146050" indent="-146050">
              <a:spcBef>
                <a:spcPts val="500"/>
              </a:spcBef>
            </a:pPr>
            <a:r>
              <a:rPr sz="1300" b="0" i="0">
                <a:solidFill>
                  <a:srgbClr val="3A3530"/>
                </a:solidFill>
                <a:latin typeface="Calibri"/>
              </a:rPr>
              <a:t>•   Restricted zones and elevated edges, defined once on the site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2220" y="246686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2F6F4E"/>
                </a:solidFill>
                <a:latin typeface="Calibri"/>
              </a:rPr>
              <a:t>WHAT MUST BE REASONED ABOUT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2220" y="2732044"/>
            <a:ext cx="5372100" cy="1397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2220" y="2796052"/>
            <a:ext cx="537210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300" b="0" i="0">
                <a:solidFill>
                  <a:srgbClr val="3A3530"/>
                </a:solidFill>
                <a:latin typeface="Calibri"/>
              </a:rPr>
              <a:t>•   Identity across frames, so one worker is not counted as many</a:t>
            </a:r>
          </a:p>
          <a:p>
            <a:pPr marL="146050" indent="-146050">
              <a:spcBef>
                <a:spcPts val="500"/>
              </a:spcBef>
            </a:pPr>
            <a:r>
              <a:rPr sz="1300" b="0" i="0">
                <a:solidFill>
                  <a:srgbClr val="3A3530"/>
                </a:solidFill>
                <a:latin typeface="Calibri"/>
              </a:rPr>
              <a:t>•   Duration, so a brief pass-through is not treated as sustained breach</a:t>
            </a:r>
          </a:p>
          <a:p>
            <a:pPr marL="146050" indent="-146050">
              <a:spcBef>
                <a:spcPts val="500"/>
              </a:spcBef>
            </a:pPr>
            <a:r>
              <a:rPr sz="1300" b="0" i="0">
                <a:solidFill>
                  <a:srgbClr val="3A3530"/>
                </a:solidFill>
                <a:latin typeface="Calibri"/>
              </a:rPr>
              <a:t>•   Uncertainty, so an unreadable crop is marked unknown, not guessed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31126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WHAT MUST BE PRODUCED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796302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860310"/>
            <a:ext cx="537210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300" b="0" i="0">
                <a:solidFill>
                  <a:srgbClr val="3A3530"/>
                </a:solidFill>
                <a:latin typeface="Calibri"/>
              </a:rPr>
              <a:t>•   A record with worker, rule, time range, location and evidence</a:t>
            </a:r>
          </a:p>
          <a:p>
            <a:pPr marL="146050" indent="-146050">
              <a:spcBef>
                <a:spcPts val="500"/>
              </a:spcBef>
            </a:pPr>
            <a:r>
              <a:rPr sz="1300" b="0" i="0">
                <a:solidFill>
                  <a:srgbClr val="3A3530"/>
                </a:solidFill>
                <a:latin typeface="Calibri"/>
              </a:rPr>
              <a:t>•   A confirmed or inconclusive status that is never silently upgraded</a:t>
            </a:r>
          </a:p>
          <a:p>
            <a:pPr marL="146050" indent="-146050">
              <a:spcBef>
                <a:spcPts val="500"/>
              </a:spcBef>
            </a:pPr>
            <a:r>
              <a:rPr sz="1300" b="0" i="0">
                <a:solidFill>
                  <a:srgbClr val="3A3530"/>
                </a:solidFill>
                <a:latin typeface="Calibri"/>
              </a:rPr>
              <a:t>•   Output stable enough for a later model to explain without re-deciding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2220" y="4531126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9B4A2A"/>
                </a:solidFill>
                <a:latin typeface="Calibri"/>
              </a:rPr>
              <a:t>EXPLICITLY NOT THE PROBLEM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2220" y="4796302"/>
            <a:ext cx="5372100" cy="13970"/>
          </a:xfrm>
          <a:prstGeom prst="rect">
            <a:avLst/>
          </a:prstGeom>
          <a:solidFill>
            <a:srgbClr val="9B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2220" y="4860310"/>
            <a:ext cx="5372100" cy="1232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300" b="0" i="0">
                <a:solidFill>
                  <a:srgbClr val="3A3530"/>
                </a:solidFill>
                <a:latin typeface="Calibri"/>
              </a:rPr>
              <a:t>•   Live real-time monitoring of an operating site</a:t>
            </a:r>
          </a:p>
          <a:p>
            <a:pPr marL="146050" indent="-146050">
              <a:spcBef>
                <a:spcPts val="500"/>
              </a:spcBef>
            </a:pPr>
            <a:r>
              <a:rPr sz="1300" b="0" i="0">
                <a:solidFill>
                  <a:srgbClr val="3A3530"/>
                </a:solidFill>
                <a:latin typeface="Calibri"/>
              </a:rPr>
              <a:t>•   Deciding legal liability or issuing a regulatory verdict</a:t>
            </a:r>
          </a:p>
          <a:p>
            <a:pPr marL="146050" indent="-146050">
              <a:spcBef>
                <a:spcPts val="500"/>
              </a:spcBef>
            </a:pPr>
            <a:r>
              <a:rPr sz="1300" b="0" i="0">
                <a:solidFill>
                  <a:srgbClr val="3A3530"/>
                </a:solidFill>
                <a:latin typeface="Calibri"/>
              </a:rPr>
              <a:t>•   Replacing the safety officer's judgement with a model's opinion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Computer vision decides; the language model only explains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 i="0">
                <a:solidFill>
                  <a:srgbClr val="6B5E52"/>
                </a:solidFill>
                <a:latin typeface="Calibri"/>
              </a:rPr>
              <a:t>This boundary is what keeps the project a safety tool rather than a chatbot over footage.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21272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COMPUTER VISION OWNS THE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6448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50456"/>
            <a:ext cx="5372100" cy="181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50" b="0" i="0">
                <a:solidFill>
                  <a:srgbClr val="3A3530"/>
                </a:solidFill>
                <a:latin typeface="Calibri"/>
              </a:rPr>
              <a:t>•   Worker identity, time range, rule fired, location and image crop all come from detection, tracking and the rule engine</a:t>
            </a:r>
          </a:p>
          <a:p>
            <a:pPr marL="146050" indent="-146050">
              <a:spcBef>
                <a:spcPts val="500"/>
              </a:spcBef>
            </a:pPr>
            <a:r>
              <a:rPr sz="1450" b="0" i="0">
                <a:solidFill>
                  <a:srgbClr val="3A3530"/>
                </a:solidFill>
                <a:latin typeface="Calibri"/>
              </a:rPr>
              <a:t>•   Every field is reproducible: the same clip yields the same record</a:t>
            </a:r>
          </a:p>
          <a:p>
            <a:pPr marL="146050" indent="-146050">
              <a:spcBef>
                <a:spcPts val="500"/>
              </a:spcBef>
            </a:pPr>
            <a:r>
              <a:rPr sz="1450" b="0" i="0">
                <a:solidFill>
                  <a:srgbClr val="3A3530"/>
                </a:solidFill>
                <a:latin typeface="Calibri"/>
              </a:rPr>
              <a:t>•   Confidence values are stored alongside the verdict, not hidden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2220" y="1221272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2F6F4E"/>
                </a:solidFill>
                <a:latin typeface="Calibri"/>
              </a:rPr>
              <a:t>THE LANGUAGE MODEL COMES AFTERWARDS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2220" y="1486448"/>
            <a:ext cx="5372100" cy="1397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2220" y="1550456"/>
            <a:ext cx="5372100" cy="1584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50" b="0" i="0">
                <a:solidFill>
                  <a:srgbClr val="3A3530"/>
                </a:solidFill>
                <a:latin typeface="Calibri"/>
              </a:rPr>
              <a:t>•   It writes the explanation, drafts the briefing and answers questions</a:t>
            </a:r>
          </a:p>
          <a:p>
            <a:pPr marL="146050" indent="-146050">
              <a:spcBef>
                <a:spcPts val="500"/>
              </a:spcBef>
            </a:pPr>
            <a:r>
              <a:rPr sz="1450" b="0" i="0">
                <a:solidFill>
                  <a:srgbClr val="3A3530"/>
                </a:solidFill>
                <a:latin typeface="Calibri"/>
              </a:rPr>
              <a:t>•   It reads only the structured fields the pipeline already produced</a:t>
            </a:r>
          </a:p>
          <a:p>
            <a:pPr marL="146050" indent="-146050">
              <a:spcBef>
                <a:spcPts val="500"/>
              </a:spcBef>
            </a:pPr>
            <a:r>
              <a:rPr sz="1450" b="0" i="0">
                <a:solidFill>
                  <a:srgbClr val="3A3530"/>
                </a:solidFill>
                <a:latin typeface="Calibri"/>
              </a:rPr>
              <a:t>•   It cannot create, delete or change a safety verdict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5532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WHY THE ORDER MATTERS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2050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284512"/>
            <a:ext cx="5372100" cy="181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50" b="0" i="0">
                <a:solidFill>
                  <a:srgbClr val="3A3530"/>
                </a:solidFill>
                <a:latin typeface="Calibri"/>
              </a:rPr>
              <a:t>•   A model that both detects and explains cannot be audited: there is no independent record to check its story against</a:t>
            </a:r>
          </a:p>
          <a:p>
            <a:pPr marL="146050" indent="-146050">
              <a:spcBef>
                <a:spcPts val="500"/>
              </a:spcBef>
            </a:pPr>
            <a:r>
              <a:rPr sz="1450" b="0" i="0">
                <a:solidFill>
                  <a:srgbClr val="3A3530"/>
                </a:solidFill>
                <a:latin typeface="Calibri"/>
              </a:rPr>
              <a:t>•   Separating them means a wrong explanation is visibly wrong</a:t>
            </a:r>
          </a:p>
          <a:p>
            <a:pPr marL="146050" indent="-146050">
              <a:spcBef>
                <a:spcPts val="500"/>
              </a:spcBef>
            </a:pPr>
            <a:r>
              <a:rPr sz="1450" b="0" i="0">
                <a:solidFill>
                  <a:srgbClr val="3A3530"/>
                </a:solidFill>
                <a:latin typeface="Calibri"/>
              </a:rPr>
              <a:t>•   It also lets us evaluate perception and language separately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395532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9B4A2A"/>
                </a:solidFill>
                <a:latin typeface="Calibri"/>
              </a:rPr>
              <a:t>HANDLING WEAK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2220" y="4220504"/>
            <a:ext cx="5372100" cy="13970"/>
          </a:xfrm>
          <a:prstGeom prst="rect">
            <a:avLst/>
          </a:prstGeom>
          <a:solidFill>
            <a:srgbClr val="9B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2220" y="4284512"/>
            <a:ext cx="5372100" cy="1584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50" b="0" i="0">
                <a:solidFill>
                  <a:srgbClr val="3A3530"/>
                </a:solidFill>
                <a:latin typeface="Calibri"/>
              </a:rPr>
              <a:t>•   When the crop is occluded or too small, PPE state is recorded as unknown</a:t>
            </a:r>
          </a:p>
          <a:p>
            <a:pPr marL="146050" indent="-146050">
              <a:spcBef>
                <a:spcPts val="500"/>
              </a:spcBef>
            </a:pPr>
            <a:r>
              <a:rPr sz="1450" b="0" i="0">
                <a:solidFill>
                  <a:srgbClr val="3A3530"/>
                </a:solidFill>
                <a:latin typeface="Calibri"/>
              </a:rPr>
              <a:t>•   The incident is reported inconclusive rather than asserted</a:t>
            </a:r>
          </a:p>
          <a:p>
            <a:pPr marL="146050" indent="-146050">
              <a:spcBef>
                <a:spcPts val="500"/>
              </a:spcBef>
            </a:pPr>
            <a:r>
              <a:rPr sz="1450" b="0" i="0">
                <a:solidFill>
                  <a:srgbClr val="3A3530"/>
                </a:solidFill>
                <a:latin typeface="Calibri"/>
              </a:rPr>
              <a:t>•   A vision model may be asked to adjudicate, but the rule still decides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Proposed computer vision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 i="0">
                <a:solidFill>
                  <a:srgbClr val="6B5E52"/>
                </a:solidFill>
                <a:latin typeface="Calibri"/>
              </a:rPr>
              <a:t>Six stages run before any language model is involved.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v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15568"/>
            <a:ext cx="11457432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541264"/>
            <a:ext cx="11201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A3530"/>
                </a:solidFill>
                <a:latin typeface="Calibri"/>
              </a:rPr>
              <a:t>Each stage answers one question: what is in the frame, who it is over time, what they are wearing, and whether that combination breaks a rule. Nothing downstream can override an earlier stage, so every incident traces back to a specific frame and box.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The output: a structured incident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 i="0">
                <a:solidFill>
                  <a:srgbClr val="6B5E52"/>
                </a:solidFill>
                <a:latin typeface="Calibri"/>
              </a:rPr>
              <a:t>Whenever later slides say incident, this is the object being described.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201400" cy="4361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R="73152" anchor="ctr">
                    <a:solidFill>
                      <a:srgbClr val="2C25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Example value</a:t>
                      </a:r>
                    </a:p>
                  </a:txBody>
                  <a:tcPr marR="73152" anchor="ctr">
                    <a:solidFill>
                      <a:srgbClr val="2C25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Where it comes from</a:t>
                      </a:r>
                    </a:p>
                  </a:txBody>
                  <a:tcPr marR="73152" anchor="ctr">
                    <a:solidFill>
                      <a:srgbClr val="2C2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Worker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Track 17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ByteTrack identity, persistent across the clip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R1 - helmet required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Rule engine, evaluated over a time window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Fixed severity attached to the rule, not inferred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00:41.2 to 00:45.5 (4.3 s)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Track start and end, after debounce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Zone B, near elevated edge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Worker box against the annotated site plan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Cropped frame at 00:43.0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Highest-confidence frame in the window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detector 0.88 / PPE 0.71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Raw model scores, stored unrounded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Becomes inconclusive if PPE state is unknown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797296"/>
            <a:ext cx="11201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5E52"/>
                </a:solidFill>
                <a:latin typeface="Calibri"/>
              </a:rPr>
              <a:t>Every field is produced by the CV pipeline and the rule engine. The language model reads this record; it never writes to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C2520"/>
                </a:solidFill>
                <a:latin typeface="Calibri"/>
              </a:rPr>
              <a:t>Literature survey: 15 original papers reviewed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40" b="0">
                <a:solidFill>
                  <a:srgbClr val="6B5E52"/>
                </a:solidFill>
                <a:latin typeface="Calibri"/>
              </a:rPr>
              <a:t>One-slide overview before the individual paper discussion.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987739"/>
              </p:ext>
            </p:extLst>
          </p:nvPr>
        </p:nvGraphicFramePr>
        <p:xfrm>
          <a:off x="457199" y="1115568"/>
          <a:ext cx="11536016" cy="5596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5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8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L="36576" marR="32004" marT="13716" marB="13716" anchor="ctr">
                    <a:solidFill>
                      <a:srgbClr val="2C25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marL="36576" marR="32004" marT="13716" marB="13716" anchor="ctr">
                    <a:solidFill>
                      <a:srgbClr val="2C25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Calibri"/>
                        </a:rPr>
                        <a:t>One-line relevance</a:t>
                      </a:r>
                    </a:p>
                  </a:txBody>
                  <a:tcPr marL="36576" marR="32004" marT="13716" marB="13716" anchor="ctr">
                    <a:solidFill>
                      <a:srgbClr val="2C2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3A3530"/>
                          </a:solidFill>
                          <a:latin typeface="Calibri"/>
                        </a:rPr>
                        <a:t>Nath et al. 2020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PPE detection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detect-then-classify PPE baseline for site images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3A3530"/>
                          </a:solidFill>
                          <a:latin typeface="Calibri"/>
                        </a:rPr>
                        <a:t>Wu et al. 2019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Hardhat detection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small-object hardhat detection and colour classes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3A3530"/>
                          </a:solidFill>
                          <a:latin typeface="Calibri"/>
                        </a:rPr>
                        <a:t>Fang et al. 2018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CV safety survey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maps CV safety gaps: alerts, uncertainty, action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3A3530"/>
                          </a:solidFill>
                          <a:latin typeface="Calibri"/>
                        </a:rPr>
                        <a:t>Redmon and Farhadi 2018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YOLOv3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dirty="0">
                          <a:solidFill>
                            <a:srgbClr val="3A3530"/>
                          </a:solidFill>
                          <a:latin typeface="Calibri"/>
                        </a:rPr>
                        <a:t>real-time single-stage detector baseline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3A3530"/>
                          </a:solidFill>
                          <a:latin typeface="Calibri"/>
                        </a:rPr>
                        <a:t>Bochkovskiy et al. 2020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YOLOv4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speed-accuracy improvements on modest hardware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3A3530"/>
                          </a:solidFill>
                          <a:latin typeface="Calibri"/>
                        </a:rPr>
                        <a:t>Wang et al. 2024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YOLOv9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modern YOLO reference for efficient detection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3A3530"/>
                          </a:solidFill>
                          <a:latin typeface="Calibri"/>
                        </a:rPr>
                        <a:t>Zhang et al. 2022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ByteTrack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tracks workers by associating every detection box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3A3530"/>
                          </a:solidFill>
                          <a:latin typeface="Calibri"/>
                        </a:rPr>
                        <a:t>Aharon et al. 2022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BoT-SORT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fallback tracker using motion plus appearance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3A3530"/>
                          </a:solidFill>
                          <a:latin typeface="Calibri"/>
                        </a:rPr>
                        <a:t>Wojke et al. 2017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DeepSORT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classic appearance-based tracking baseline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3A3530"/>
                          </a:solidFill>
                          <a:latin typeface="Calibri"/>
                        </a:rPr>
                        <a:t>Fang et al. 2018b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Harness detection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fall-risk PPE checking at elevated work areas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3A3530"/>
                          </a:solidFill>
                          <a:latin typeface="Calibri"/>
                        </a:rPr>
                        <a:t>Sanhudo et al. 2021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Activity recognition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dirty="0">
                          <a:solidFill>
                            <a:srgbClr val="3A3530"/>
                          </a:solidFill>
                          <a:latin typeface="Calibri"/>
                        </a:rPr>
                        <a:t>time-windowed worker activity classification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3A3530"/>
                          </a:solidFill>
                          <a:latin typeface="Calibri"/>
                        </a:rPr>
                        <a:t>Luo et al. 2018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Site activity images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uses scene/object context for activity labels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3A3530"/>
                          </a:solidFill>
                          <a:latin typeface="Calibri"/>
                        </a:rPr>
                        <a:t>Achiam et al. 2023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GPT-4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dirty="0">
                          <a:solidFill>
                            <a:srgbClr val="3A3530"/>
                          </a:solidFill>
                          <a:latin typeface="Calibri"/>
                        </a:rPr>
                        <a:t>vision-language reasoning, used only after CV uncertainty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3A3530"/>
                          </a:solidFill>
                          <a:latin typeface="Calibri"/>
                        </a:rPr>
                        <a:t>Liu et al. 2023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LLaVA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open visual question-answering baseline</a:t>
                      </a:r>
                    </a:p>
                  </a:txBody>
                  <a:tcPr marL="36576" marR="32004" marT="13716" marB="13716" anchor="ctr">
                    <a:solidFill>
                      <a:srgbClr val="F7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680" b="0">
                          <a:solidFill>
                            <a:srgbClr val="3A3530"/>
                          </a:solidFill>
                          <a:latin typeface="Calibri"/>
                        </a:rPr>
                        <a:t>Yang et al. 2024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3A3530"/>
                          </a:solidFill>
                          <a:latin typeface="Calibri"/>
                        </a:rPr>
                        <a:t>Qwen2.5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dirty="0">
                          <a:solidFill>
                            <a:srgbClr val="3A3530"/>
                          </a:solidFill>
                          <a:latin typeface="Calibri"/>
                        </a:rPr>
                        <a:t>small open LLM for grounded incident narration</a:t>
                      </a:r>
                    </a:p>
                  </a:txBody>
                  <a:tcPr marL="36576" marR="32004" marT="13716" marB="13716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Nath et al. 2020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 i="0">
                <a:solidFill>
                  <a:srgbClr val="6B5E52"/>
                </a:solidFill>
                <a:latin typeface="Calibri"/>
              </a:rPr>
              <a:t>Deep learning for site safety: real-time detection of protective equipment   |   PPE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79941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45117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09125"/>
            <a:ext cx="5372100" cy="218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350" b="0" i="0">
                <a:solidFill>
                  <a:srgbClr val="3A3530"/>
                </a:solidFill>
                <a:latin typeface="Calibri"/>
              </a:rPr>
              <a:t>•   YOLO-based detector trained on a crowdsourced construction image dataset</a:t>
            </a:r>
          </a:p>
          <a:p>
            <a:pPr marL="146050" indent="-146050">
              <a:spcBef>
                <a:spcPts val="500"/>
              </a:spcBef>
            </a:pPr>
            <a:r>
              <a:rPr sz="1350" b="0" i="0">
                <a:solidFill>
                  <a:srgbClr val="3A3530"/>
                </a:solidFill>
                <a:latin typeface="Calibri"/>
              </a:rPr>
              <a:t>•   Compares three strategies: detect PPE items directly, detect combined worker-plus-PPE classes, or detect the worker then classify the crop</a:t>
            </a:r>
          </a:p>
          <a:p>
            <a:pPr marL="146050" indent="-146050">
              <a:spcBef>
                <a:spcPts val="500"/>
              </a:spcBef>
            </a:pPr>
            <a:r>
              <a:rPr sz="1350" b="0" i="0">
                <a:solidFill>
                  <a:srgbClr val="3A3530"/>
                </a:solidFill>
                <a:latin typeface="Calibri"/>
              </a:rPr>
              <a:t>•   The combined-class approach reached the best mean average precision of 72.3 percent</a:t>
            </a:r>
          </a:p>
          <a:p>
            <a:pPr marL="146050" indent="-146050">
              <a:spcBef>
                <a:spcPts val="500"/>
              </a:spcBef>
            </a:pPr>
            <a:r>
              <a:rPr sz="1350" b="0" i="0">
                <a:solidFill>
                  <a:srgbClr val="3A3530"/>
                </a:solidFill>
                <a:latin typeface="Calibri"/>
              </a:rPr>
              <a:t>•   The third strategy pairs a worker detector with a separate CNN classifier per crop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2220" y="1179941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2F6F4E"/>
                </a:solidFill>
                <a:latin typeface="Calibri"/>
              </a:rPr>
              <a:t>CONTRIBUTION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2220" y="1445117"/>
            <a:ext cx="5372100" cy="1397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2220" y="1509125"/>
            <a:ext cx="5372100" cy="1970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350" b="0" i="0">
                <a:solidFill>
                  <a:srgbClr val="3A3530"/>
                </a:solidFill>
                <a:latin typeface="Calibri"/>
              </a:rPr>
              <a:t>•   Demonstrates PPE compliance checking on genuine site imagery, not staged photos</a:t>
            </a:r>
          </a:p>
          <a:p>
            <a:pPr marL="146050" indent="-146050">
              <a:spcBef>
                <a:spcPts val="500"/>
              </a:spcBef>
            </a:pPr>
            <a:r>
              <a:rPr sz="1350" b="0" i="0">
                <a:solidFill>
                  <a:srgbClr val="3A3530"/>
                </a:solidFill>
                <a:latin typeface="Calibri"/>
              </a:rPr>
              <a:t>•   Shows classifying a cropped worker beats detecting small PPE items directly</a:t>
            </a:r>
          </a:p>
          <a:p>
            <a:pPr marL="146050" indent="-146050">
              <a:spcBef>
                <a:spcPts val="500"/>
              </a:spcBef>
            </a:pPr>
            <a:r>
              <a:rPr sz="1350" b="0" i="0">
                <a:solidFill>
                  <a:srgbClr val="3A3530"/>
                </a:solidFill>
                <a:latin typeface="Calibri"/>
              </a:rPr>
              <a:t>•   Publishes construction-specific labels instead of reusing generic object classes</a:t>
            </a:r>
          </a:p>
          <a:p>
            <a:pPr marL="146050" indent="-146050">
              <a:spcBef>
                <a:spcPts val="500"/>
              </a:spcBef>
            </a:pPr>
            <a:r>
              <a:rPr sz="1350" b="0" i="0">
                <a:solidFill>
                  <a:srgbClr val="3A3530"/>
                </a:solidFill>
                <a:latin typeface="Calibri"/>
              </a:rPr>
              <a:t>•   Establishes the accuracy range a student-scale PPE system can realistically hit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55170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9B4A2A"/>
                </a:solidFill>
                <a:latin typeface="Calibri"/>
              </a:rPr>
              <a:t>LIMITATION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20346"/>
            <a:ext cx="5372100" cy="13970"/>
          </a:xfrm>
          <a:prstGeom prst="rect">
            <a:avLst/>
          </a:prstGeom>
          <a:solidFill>
            <a:srgbClr val="9B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484354"/>
            <a:ext cx="5372100" cy="148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350" b="0" i="0">
                <a:solidFill>
                  <a:srgbClr val="3A3530"/>
                </a:solidFill>
                <a:latin typeface="Calibri"/>
              </a:rPr>
              <a:t>•   Output is a per-frame compliance label with no worker identity or duration</a:t>
            </a:r>
          </a:p>
          <a:p>
            <a:pPr marL="146050" indent="-146050">
              <a:spcBef>
                <a:spcPts val="500"/>
              </a:spcBef>
            </a:pPr>
            <a:r>
              <a:rPr sz="1350" b="0" i="0">
                <a:solidFill>
                  <a:srgbClr val="3A3530"/>
                </a:solidFill>
                <a:latin typeface="Calibri"/>
              </a:rPr>
              <a:t>•   Covers helmet and vest only, with no reasoning about occlusion or camera angle</a:t>
            </a:r>
          </a:p>
          <a:p>
            <a:pPr marL="146050" indent="-146050">
              <a:spcBef>
                <a:spcPts val="500"/>
              </a:spcBef>
            </a:pPr>
            <a:r>
              <a:rPr sz="1350" b="0" i="0">
                <a:solidFill>
                  <a:srgbClr val="3A3530"/>
                </a:solidFill>
                <a:latin typeface="Calibri"/>
              </a:rPr>
              <a:t>•   A fixed-label classifier must still pick a class when the helmet is not visible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4155170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HOW WE USE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2220" y="4420346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2220" y="4484354"/>
            <a:ext cx="5372100" cy="1704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350" b="0" i="0">
                <a:solidFill>
                  <a:srgbClr val="3A3530"/>
                </a:solidFill>
                <a:latin typeface="Calibri"/>
              </a:rPr>
              <a:t>•   Validates our detect-then-classify design: YOLO finds the worker, a second head reads PPE from the crop</a:t>
            </a:r>
          </a:p>
          <a:p>
            <a:pPr marL="146050" indent="-146050">
              <a:spcBef>
                <a:spcPts val="500"/>
              </a:spcBef>
            </a:pPr>
            <a:r>
              <a:rPr sz="1350" b="0" i="0">
                <a:solidFill>
                  <a:srgbClr val="3A3530"/>
                </a:solidFill>
                <a:latin typeface="Calibri"/>
              </a:rPr>
              <a:t>•   We keep their crop-classifier idea but add an explicit unknown state for poor visibility</a:t>
            </a:r>
          </a:p>
          <a:p>
            <a:pPr marL="146050" indent="-146050">
              <a:spcBef>
                <a:spcPts val="500"/>
              </a:spcBef>
            </a:pPr>
            <a:r>
              <a:rPr sz="1350" b="0" i="0">
                <a:solidFill>
                  <a:srgbClr val="3A3530"/>
                </a:solidFill>
                <a:latin typeface="Calibri"/>
              </a:rPr>
              <a:t>•   Their reported accuracy gives us a realistic target for our own detection metric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Wu et al.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 i="0">
                <a:solidFill>
                  <a:srgbClr val="6B5E52"/>
                </a:solidFill>
                <a:latin typeface="Calibri"/>
              </a:rPr>
              <a:t>Automatic detection of hardhats worn by construction personnel   |   Hardhat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114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9632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60332"/>
            <a:ext cx="5372100" cy="20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Single-shot detector with an attention mechanism aimed at small objects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Introduces a benchmark of site images labelled by hardhat colour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Detects five classes: no-hardhat plus blue, white, yellow and red hardhats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Uses a lightweight backbone chosen for practical on-site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2220" y="123114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2F6F4E"/>
                </a:solidFill>
                <a:latin typeface="Calibri"/>
              </a:rPr>
              <a:t>CONTRIBUTION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2220" y="1496324"/>
            <a:ext cx="5372100" cy="1397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2220" y="1560332"/>
            <a:ext cx="5372100" cy="20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Confirms helmet status is readable from CCTV-resolution imagery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Colour classes let a system separate roles such as visitor, worker and supervisor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Shows attention on shallow layers measurably improves small-object recall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Provides a reusable public benchmark for hardhat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1437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9B4A2A"/>
                </a:solidFill>
                <a:latin typeface="Calibri"/>
              </a:rPr>
              <a:t>LIMITATION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79554"/>
            <a:ext cx="5372100" cy="13970"/>
          </a:xfrm>
          <a:prstGeom prst="rect">
            <a:avLst/>
          </a:prstGeom>
          <a:solidFill>
            <a:srgbClr val="9B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543562"/>
            <a:ext cx="53721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Helmet only, so a worker missing a vest or standing in a restricted zone is invisible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Per-image detection with no tracking, so one violation recounts on every frame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Produces a box on a frame rather than a record of what happened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421437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HOW WE USE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2220" y="447955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2220" y="4543562"/>
            <a:ext cx="53721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Supports rule R1 on mandatory helmets and flags small-object recall as a real risk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Shows why our scope must cover vest and zone rules, not hardhats alone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Their colour classes are a candidate later extension for role-aware rules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Fang et al. 2018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 i="0">
                <a:solidFill>
                  <a:srgbClr val="6B5E52"/>
                </a:solidFill>
                <a:latin typeface="Calibri"/>
              </a:rPr>
              <a:t>Computer vision applications in construction safety assurance   |  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114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9632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60332"/>
            <a:ext cx="5372100" cy="20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Reviews computer vision work across detection, tracking and behaviour analysis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Groups applications by hazard: falls, PPE non-compliance, equipment proximity, unsafe acts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Compares handcrafted-feature methods against early deep learning approaches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Catalogues the datasets and evaluation practices in use across the 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2220" y="123114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2F6F4E"/>
                </a:solidFill>
                <a:latin typeface="Calibri"/>
              </a:rPr>
              <a:t>CONTRIBUTION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2220" y="1496324"/>
            <a:ext cx="5372100" cy="1397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2220" y="1560332"/>
            <a:ext cx="5372100" cy="20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Establishes vision-based safety assurance as a legitimate, active research area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Identifies that most systems stop at detection and never close the loop to action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Highlights the absence of shared construction-specific benchmarks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Gives a shared vocabulary for hazard types that we adopt for our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1437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9B4A2A"/>
                </a:solidFill>
                <a:latin typeface="Calibri"/>
              </a:rPr>
              <a:t>LIMITATION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79554"/>
            <a:ext cx="5372100" cy="13970"/>
          </a:xfrm>
          <a:prstGeom prst="rect">
            <a:avLst/>
          </a:prstGeom>
          <a:solidFill>
            <a:srgbClr val="9B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543562"/>
            <a:ext cx="53721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Surveyed systems emit alerts, not records a safety officer can review and act on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Almost no attention to uncertainty, occlusion, or explaining a decision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Little work links a detected hazard to a regulation or a required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421437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HOW WE USE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2220" y="447955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2220" y="4543562"/>
            <a:ext cx="53721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This survey defines our central gap: move from a raw alert to a usable incident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Its hazard taxonomy maps almost directly onto our rules R1 to R5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Its note on missing explanations is what justifies our LLM briefing layer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Redmon and Farhadi 2018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 i="0">
                <a:solidFill>
                  <a:srgbClr val="6B5E52"/>
                </a:solidFill>
                <a:latin typeface="Calibri"/>
              </a:rPr>
              <a:t>YOLOv3: An Incremental Improvement   |   Object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114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9632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60332"/>
            <a:ext cx="5372100" cy="20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Single-stage detector predicting boxes, objectness and classes in one forward pass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Darknet-53 backbone predicting at three scales to cover different object sizes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Independent per-class logistic classifiers instead of a softmax over classes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Trained at several input resolutions to trade speed against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2220" y="123114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2F6F4E"/>
                </a:solidFill>
                <a:latin typeface="Calibri"/>
              </a:rPr>
              <a:t>CONTRIBUTION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2220" y="1496324"/>
            <a:ext cx="5372100" cy="1397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2220" y="1560332"/>
            <a:ext cx="5372100" cy="20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Made real-time detection practical on a single GPU at usable accuracy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Three-scale prediction substantially improved small-object detection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Became the baseline that the construction-safety papers above are built on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Its architecture is still the reference point every later tracker assumes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1437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9B4A2A"/>
                </a:solidFill>
                <a:latin typeface="Calibri"/>
              </a:rPr>
              <a:t>LIMITATION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79554"/>
            <a:ext cx="5372100" cy="13970"/>
          </a:xfrm>
          <a:prstGeom prst="rect">
            <a:avLst/>
          </a:prstGeom>
          <a:solidFill>
            <a:srgbClr val="9B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543562"/>
            <a:ext cx="53721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A general-purpose detector with no notion of who a person is between frames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No temporal reasoning, so it cannot express duration or persistence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Trained on generic classes; helmets and vests are not in its vocabulary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421437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HOW WE USE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2220" y="447955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2220" y="4543562"/>
            <a:ext cx="53721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Justifies a single-stage YOLO detector as the first stage of our pipeline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Its multi-scale design matters because workers are small in wide CCTV views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Shows we must fine-tune on construction data rather than use pretrained weights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Detection literature gives us boxes, not incidents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 i="0">
                <a:solidFill>
                  <a:srgbClr val="6B5E52"/>
                </a:solidFill>
                <a:latin typeface="Calibri"/>
              </a:rPr>
              <a:t>Closing the six PPE and detection papers: what is solved, and what is still open.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26977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2F6F4E"/>
                </a:solidFill>
                <a:latin typeface="Calibri"/>
              </a:rPr>
              <a:t>WHAT THESE SIX PAPERS SETTLE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92153"/>
            <a:ext cx="5372100" cy="1397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56161"/>
            <a:ext cx="5372100" cy="2290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600" b="0" i="0">
                <a:solidFill>
                  <a:srgbClr val="3A3530"/>
                </a:solidFill>
                <a:latin typeface="Calibri"/>
              </a:rPr>
              <a:t>•   PPE is visually detectable at CCTV resolution, on real site imagery</a:t>
            </a:r>
          </a:p>
          <a:p>
            <a:pPr marL="146050" indent="-146050">
              <a:spcBef>
                <a:spcPts val="500"/>
              </a:spcBef>
            </a:pPr>
            <a:r>
              <a:rPr sz="1600" b="0" i="0">
                <a:solidFill>
                  <a:srgbClr val="3A3530"/>
                </a:solidFill>
                <a:latin typeface="Calibri"/>
              </a:rPr>
              <a:t>•   Detect-then-classify beats detecting small PPE items directly</a:t>
            </a:r>
          </a:p>
          <a:p>
            <a:pPr marL="146050" indent="-146050">
              <a:spcBef>
                <a:spcPts val="500"/>
              </a:spcBef>
            </a:pPr>
            <a:r>
              <a:rPr sz="1600" b="0" i="0">
                <a:solidFill>
                  <a:srgbClr val="3A3530"/>
                </a:solidFill>
                <a:latin typeface="Calibri"/>
              </a:rPr>
              <a:t>•   Single-stage detectors are fast and accurate enough on one GPU</a:t>
            </a:r>
          </a:p>
          <a:p>
            <a:pPr marL="146050" indent="-146050">
              <a:spcBef>
                <a:spcPts val="500"/>
              </a:spcBef>
            </a:pPr>
            <a:r>
              <a:rPr sz="1600" b="0" i="0">
                <a:solidFill>
                  <a:srgbClr val="3A3530"/>
                </a:solidFill>
                <a:latin typeface="Calibri"/>
              </a:rPr>
              <a:t>•   Detection quality depends far more on training data than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2220" y="1326977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9B4A2A"/>
                </a:solidFill>
                <a:latin typeface="Calibri"/>
              </a:rPr>
              <a:t>WHAT THEY LEAVE UNSOLVED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2220" y="1592153"/>
            <a:ext cx="5372100" cy="13970"/>
          </a:xfrm>
          <a:prstGeom prst="rect">
            <a:avLst/>
          </a:prstGeom>
          <a:solidFill>
            <a:srgbClr val="9B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2220" y="1656161"/>
            <a:ext cx="5372100" cy="2290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600" b="0" i="0">
                <a:solidFill>
                  <a:srgbClr val="3A3530"/>
                </a:solidFill>
                <a:latin typeface="Calibri"/>
              </a:rPr>
              <a:t>•   Every one of them outputs a per-frame label or box, never a record</a:t>
            </a:r>
          </a:p>
          <a:p>
            <a:pPr marL="146050" indent="-146050">
              <a:spcBef>
                <a:spcPts val="500"/>
              </a:spcBef>
            </a:pPr>
            <a:r>
              <a:rPr sz="1600" b="0" i="0">
                <a:solidFill>
                  <a:srgbClr val="3A3530"/>
                </a:solidFill>
                <a:latin typeface="Calibri"/>
              </a:rPr>
              <a:t>•   None carries worker identity, so duration cannot be expressed</a:t>
            </a:r>
          </a:p>
          <a:p>
            <a:pPr marL="146050" indent="-146050">
              <a:spcBef>
                <a:spcPts val="500"/>
              </a:spcBef>
            </a:pPr>
            <a:r>
              <a:rPr sz="1600" b="0" i="0">
                <a:solidFill>
                  <a:srgbClr val="3A3530"/>
                </a:solidFill>
                <a:latin typeface="Calibri"/>
              </a:rPr>
              <a:t>•   None has an uncertainty state; the classifier must always pick a class</a:t>
            </a:r>
          </a:p>
          <a:p>
            <a:pPr marL="146050" indent="-146050">
              <a:spcBef>
                <a:spcPts val="500"/>
              </a:spcBef>
            </a:pPr>
            <a:r>
              <a:rPr sz="1600" b="0" i="0">
                <a:solidFill>
                  <a:srgbClr val="3A3530"/>
                </a:solidFill>
                <a:latin typeface="Calibri"/>
              </a:rPr>
              <a:t>•   None connects a detection to a rule, a severity or a required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687397"/>
            <a:ext cx="11201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WHAT WE THEREFORE BUILD ON TOP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952573"/>
            <a:ext cx="112014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5016581"/>
            <a:ext cx="11201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600" b="0" i="0">
                <a:solidFill>
                  <a:srgbClr val="3A3530"/>
                </a:solidFill>
                <a:latin typeface="Calibri"/>
              </a:rPr>
              <a:t>•   Take the YOLO detector and crop-classifier pattern as given, then add the three missing pieces: a tracker for identity and duration, an explicit unknown PPE state, and a rule engine that turns a sustained condition into an incident record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Zhang et al.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 i="0">
                <a:solidFill>
                  <a:srgbClr val="6B5E52"/>
                </a:solidFill>
                <a:latin typeface="Calibri"/>
              </a:rPr>
              <a:t>ByteTrack: Multi-Object Tracking by Associating Every Detection Box   |  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114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9632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60332"/>
            <a:ext cx="5372100" cy="20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Associates every detection box with tracks in two stages, including weak ones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High-confidence boxes match first using Kalman motion prediction and box overlap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Remaining low-confidence boxes then match unmatched tracks to recover occlusions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Deliberately uses no appearance embedding, which keeps the tracker cheap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2220" y="123114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2F6F4E"/>
                </a:solidFill>
                <a:latin typeface="Calibri"/>
              </a:rPr>
              <a:t>CONTRIBUTION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2220" y="1496324"/>
            <a:ext cx="5372100" cy="1397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2220" y="1560332"/>
            <a:ext cx="5372100" cy="20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Reaches 80.3 MOTA and 77.3 IDF1 on MOT17 at around 30 frames per second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Shows most tracking failures come from discarding low-confidence detections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Simple enough to implement, debug and explain inside a semester project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Needs no extra model to train, which keeps our pipeline auditable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1437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9B4A2A"/>
                </a:solidFill>
                <a:latin typeface="Calibri"/>
              </a:rPr>
              <a:t>LIMITATION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79554"/>
            <a:ext cx="5372100" cy="13970"/>
          </a:xfrm>
          <a:prstGeom prst="rect">
            <a:avLst/>
          </a:prstGeom>
          <a:solidFill>
            <a:srgbClr val="9B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543562"/>
            <a:ext cx="53721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Assumes a reasonably stable camera and can still switch identities in dense crowds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Without appearance features it cannot re-identify a worker who leaves and returns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Tracking quality is capped by detector quality on the same frames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421437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HOW WE USE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2220" y="447955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2220" y="4543562"/>
            <a:ext cx="53721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Our primary tracker, giving each worker an identity that persists across the clip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Turns a bare alert into worker 17 was uncovered for 4.3 seconds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Its weak-box recovery is exactly what we need when workers pass behind scaffolding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Fang et al. 2018b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 i="0">
                <a:solidFill>
                  <a:srgbClr val="6B5E52"/>
                </a:solidFill>
                <a:latin typeface="Calibri"/>
              </a:rPr>
              <a:t>Falls from heights: computer vision based safety harness detection   |   Construction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114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9632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60332"/>
            <a:ext cx="5372100" cy="20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Two-stage pipeline: a detector locates workers, a second network checks for a harness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Targets workers operating at height, where fall protection is mandatory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Trained on site images of scaffolding and structural steel work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Reports precision and recall for harness presence, not only detection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2220" y="123114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2F6F4E"/>
                </a:solidFill>
                <a:latin typeface="Calibri"/>
              </a:rPr>
              <a:t>CONTRIBUTION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2220" y="1496324"/>
            <a:ext cx="5372100" cy="1397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2220" y="1560332"/>
            <a:ext cx="5372100" cy="20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Shows vision can target the highest-consequence hazard class, falls from height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Validates a detect-then-verify pattern for a specific safety attribute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Demonstrates a context-dependent rule: the harness only matters when at height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Reports attribute-level precision and recall, which is how we will score PPE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1437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9B4A2A"/>
                </a:solidFill>
                <a:latin typeface="Calibri"/>
              </a:rPr>
              <a:t>LIMITATION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79554"/>
            <a:ext cx="5372100" cy="13970"/>
          </a:xfrm>
          <a:prstGeom prst="rect">
            <a:avLst/>
          </a:prstGeom>
          <a:solidFill>
            <a:srgbClr val="9B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543562"/>
            <a:ext cx="53721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Judges each frame independently, with no duration or persistence requirement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Harness straps are thin and frequently occluded, which limits reliability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Does not determine elevation automatically from the scene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421437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HOW WE USE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2220" y="447955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2220" y="4543562"/>
            <a:ext cx="53721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Directly supports rule R5 on elevated edges and fall risk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Confirms our two-stage detect-then-classify structure for PPE attributes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Its context dependence is why our rules combine PPE state with zone information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Sanhudo et al. 2021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 i="0">
                <a:solidFill>
                  <a:srgbClr val="6B5E52"/>
                </a:solidFill>
                <a:latin typeface="Calibri"/>
              </a:rPr>
              <a:t>Activity classification of construction workers   |   Activity recognition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114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9632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60332"/>
            <a:ext cx="5372100" cy="20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Classifies worker activity from wearable accelerometer signals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Compares several classifiers over features extracted from signal windows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Focuses on labour-intensive tasks relevant to ergonomic and safety risk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Uses time-windowed features rather than instantaneous readings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2220" y="123114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2F6F4E"/>
                </a:solidFill>
                <a:latin typeface="Calibri"/>
              </a:rPr>
              <a:t>CONTRIBUTION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2220" y="1496324"/>
            <a:ext cx="5372100" cy="1397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2220" y="1560332"/>
            <a:ext cx="5372100" cy="20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Shows worker behaviour is machine-recognisable into meaningful categories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Time-windowed classification is markedly more reliable than per-instant labels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Links activity recognition to safety outcomes, not only productivity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Confirms activity categories are stable enough to be worth detecting at 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1437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9B4A2A"/>
                </a:solidFill>
                <a:latin typeface="Calibri"/>
              </a:rPr>
              <a:t>LIMITATION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79554"/>
            <a:ext cx="5372100" cy="13970"/>
          </a:xfrm>
          <a:prstGeom prst="rect">
            <a:avLst/>
          </a:prstGeom>
          <a:solidFill>
            <a:srgbClr val="9B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543562"/>
            <a:ext cx="53721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Sensor-based, so every worker must wear and maintain a device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Produces no visual evidence, so a supervisor cannot verify the classification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Does not scale to a site that already has cameras but no wearables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421437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HOW WE USE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2220" y="447955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2220" y="4543562"/>
            <a:ext cx="53721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Reinforces our choice of time windows over per-frame labels in the rule engine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Its lack of visual evidence is why our incident cards must carry an image crop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Motivates deriving activity context from video rather than from extra hardware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Luo et al. 2018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 i="0">
                <a:solidFill>
                  <a:srgbClr val="6B5E52"/>
                </a:solidFill>
                <a:latin typeface="Calibri"/>
              </a:rPr>
              <a:t>Recognising diverse construction activities in site images   |   Activity recognition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114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9632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60332"/>
            <a:ext cx="5372100" cy="20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A relevance network relates detected objects to candidate activity classes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Handles many activity classes in cluttered, unconstrained site photographs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Uses object co-occurrence as evidence rather than whole-image features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Evaluated across a wide range of real construction activity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2220" y="123114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2F6F4E"/>
                </a:solidFill>
                <a:latin typeface="Calibri"/>
              </a:rPr>
              <a:t>CONTRIBUTION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2220" y="1496324"/>
            <a:ext cx="5372100" cy="1397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2220" y="1560332"/>
            <a:ext cx="5372100" cy="20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Demonstrates activity recognition works on genuinely messy site imagery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Object-relation reasoning generalises better than whole-image classification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Establishes that context, not just the worker, decides whether a scene is unsafe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Shows a model can use the scene, not just the person, as safety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1437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9B4A2A"/>
                </a:solidFill>
                <a:latin typeface="Calibri"/>
              </a:rPr>
              <a:t>LIMITATION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79554"/>
            <a:ext cx="5372100" cy="13970"/>
          </a:xfrm>
          <a:prstGeom prst="rect">
            <a:avLst/>
          </a:prstGeom>
          <a:solidFill>
            <a:srgbClr val="9B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543562"/>
            <a:ext cx="53721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Per-image classification with no tracking, so it cannot measure how long anything lasted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Cannot separate a worker passing through a zone from one working inside it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No mechanism to express uncertainty when the scene is ambiguous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421437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HOW WE USE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2220" y="447955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2220" y="4543562"/>
            <a:ext cx="53721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Its per-frame limitation is the clearest argument for our track-first design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Its object-relation idea informs how we compute worker-to-zone relations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Confirms that a single frame cannot support a defensible safety verdict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Safety rules need time, identity and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 i="0">
                <a:solidFill>
                  <a:srgbClr val="6B5E52"/>
                </a:solidFill>
                <a:latin typeface="Calibri"/>
              </a:rPr>
              <a:t>Closing the six tracking and activity papers: why one frame is never enough.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26977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2F6F4E"/>
                </a:solidFill>
                <a:latin typeface="Calibri"/>
              </a:rPr>
              <a:t>WHAT TRACKING CONTRIBUTES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92153"/>
            <a:ext cx="5372100" cy="1397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56161"/>
            <a:ext cx="5372100" cy="2290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600" b="0" i="0">
                <a:solidFill>
                  <a:srgbClr val="3A3530"/>
                </a:solidFill>
                <a:latin typeface="Calibri"/>
              </a:rPr>
              <a:t>•   A stable identity, so the same worker is one subject and not many alerts</a:t>
            </a:r>
          </a:p>
          <a:p>
            <a:pPr marL="146050" indent="-146050">
              <a:spcBef>
                <a:spcPts val="500"/>
              </a:spcBef>
            </a:pPr>
            <a:r>
              <a:rPr sz="1600" b="0" i="0">
                <a:solidFill>
                  <a:srgbClr val="3A3530"/>
                </a:solidFill>
                <a:latin typeface="Calibri"/>
              </a:rPr>
              <a:t>•   A measurable duration, which is what separates a breach from a pass-through</a:t>
            </a:r>
          </a:p>
          <a:p>
            <a:pPr marL="146050" indent="-146050">
              <a:spcBef>
                <a:spcPts val="500"/>
              </a:spcBef>
            </a:pPr>
            <a:r>
              <a:rPr sz="1600" b="0" i="0">
                <a:solidFill>
                  <a:srgbClr val="3A3530"/>
                </a:solidFill>
                <a:latin typeface="Calibri"/>
              </a:rPr>
              <a:t>•   Recovery through occlusion, which is constant on a cluttered site</a:t>
            </a:r>
          </a:p>
          <a:p>
            <a:pPr marL="146050" indent="-146050">
              <a:spcBef>
                <a:spcPts val="500"/>
              </a:spcBef>
            </a:pPr>
            <a:r>
              <a:rPr sz="1600" b="0" i="0">
                <a:solidFill>
                  <a:srgbClr val="3A3530"/>
                </a:solidFill>
                <a:latin typeface="Calibri"/>
              </a:rPr>
              <a:t>•   A ranked set of frames, so we can pick the clearest evidence crop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2220" y="1326977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9B4A2A"/>
                </a:solidFill>
                <a:latin typeface="Calibri"/>
              </a:rPr>
              <a:t>WHAT THE ACTIVITY PAPERS WARN US ABOUT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2220" y="1592153"/>
            <a:ext cx="5372100" cy="13970"/>
          </a:xfrm>
          <a:prstGeom prst="rect">
            <a:avLst/>
          </a:prstGeom>
          <a:solidFill>
            <a:srgbClr val="9B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2220" y="1656161"/>
            <a:ext cx="5372100" cy="2290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600" b="0" i="0">
                <a:solidFill>
                  <a:srgbClr val="3A3530"/>
                </a:solidFill>
                <a:latin typeface="Calibri"/>
              </a:rPr>
              <a:t>•   Site scenes are cluttered, varied and hard to label from one image</a:t>
            </a:r>
          </a:p>
          <a:p>
            <a:pPr marL="146050" indent="-146050">
              <a:spcBef>
                <a:spcPts val="500"/>
              </a:spcBef>
            </a:pPr>
            <a:r>
              <a:rPr sz="1600" b="0" i="0">
                <a:solidFill>
                  <a:srgbClr val="3A3530"/>
                </a:solidFill>
                <a:latin typeface="Calibri"/>
              </a:rPr>
              <a:t>•   Context decides risk: the same posture is safe or unsafe by location</a:t>
            </a:r>
          </a:p>
          <a:p>
            <a:pPr marL="146050" indent="-146050">
              <a:spcBef>
                <a:spcPts val="500"/>
              </a:spcBef>
            </a:pPr>
            <a:r>
              <a:rPr sz="1600" b="0" i="0">
                <a:solidFill>
                  <a:srgbClr val="3A3530"/>
                </a:solidFill>
                <a:latin typeface="Calibri"/>
              </a:rPr>
              <a:t>•   Per-frame classifiers cannot express how long a state persisted</a:t>
            </a:r>
          </a:p>
          <a:p>
            <a:pPr marL="146050" indent="-146050">
              <a:spcBef>
                <a:spcPts val="500"/>
              </a:spcBef>
            </a:pPr>
            <a:r>
              <a:rPr sz="1600" b="0" i="0">
                <a:solidFill>
                  <a:srgbClr val="3A3530"/>
                </a:solidFill>
                <a:latin typeface="Calibri"/>
              </a:rPr>
              <a:t>•   Sensor-based methods work but leave no evidence a supervisor can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687397"/>
            <a:ext cx="11201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HOW OUR RULE ENGINE RESPONDS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952573"/>
            <a:ext cx="112014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5016581"/>
            <a:ext cx="11201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600" b="0" i="0">
                <a:solidFill>
                  <a:srgbClr val="3A3530"/>
                </a:solidFill>
                <a:latin typeface="Calibri"/>
              </a:rPr>
              <a:t>•   Rules R1 to R5 take a tracked worker, a PPE state and a zone relation, then require the condition to hold for a minimum duration before firing, with debouncing so flicker does not create duplicate incidents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Achiam et al. 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114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9632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60332"/>
            <a:ext cx="5372100" cy="20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Transformer model accepting interleaved image and text input and producing text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Post-trained with reinforcement learning from human feedback for instruction following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Evaluated on academic and professional exams alongside standard benchmarks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Reports a dedicated safety and refusal evaluation beside the capability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2220" y="123114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2F6F4E"/>
                </a:solidFill>
                <a:latin typeface="Calibri"/>
              </a:rPr>
              <a:t>CONTRIBUTION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2220" y="1496324"/>
            <a:ext cx="5372100" cy="1397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2220" y="1560332"/>
            <a:ext cx="5372100" cy="20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Shows one model can describe and reason about image content in plain language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Strong instruction following makes format-controlled output practical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Its documented refusal behaviour is a usable building block for a safety product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Sets the expectation that a visual explanation can read as genuinely useful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1437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9B4A2A"/>
                </a:solidFill>
                <a:latin typeface="Calibri"/>
              </a:rPr>
              <a:t>LIMITATION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79554"/>
            <a:ext cx="5372100" cy="13970"/>
          </a:xfrm>
          <a:prstGeom prst="rect">
            <a:avLst/>
          </a:prstGeom>
          <a:solidFill>
            <a:srgbClr val="9B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543562"/>
            <a:ext cx="53721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Closed weights behind an external API, so evidence crops leave our infrastructure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Still invents confident detail that is not present in the image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Gives no calibrated confidence, so its judgement cannot serve as a verdict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421437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HOW WE USE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2220" y="447955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2220" y="4543562"/>
            <a:ext cx="53721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Supports calling a vision model only to adjudicate cases our pipeline marks unknown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Its hallucination risk is why the LLM never overrides a rule outcome in our design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Its refusal work backs our guardrail that declines legal-verdict questions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Liu et al. 2023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 i="0">
                <a:solidFill>
                  <a:srgbClr val="6B5E52"/>
                </a:solidFill>
                <a:latin typeface="Calibri"/>
              </a:rPr>
              <a:t>Visual Instruction Tuning (LLaVA)   |   Vision-language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114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9632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60332"/>
            <a:ext cx="5372100" cy="20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Connects a frozen vision encoder to a language model through a projection layer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Trained on machine-generated multimodal instruction-following data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Two stages: align the projection first, then instruction-tune end to end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Evaluated on visual question answering and open-ended visual conversation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2220" y="123114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2F6F4E"/>
                </a:solidFill>
                <a:latin typeface="Calibri"/>
              </a:rPr>
              <a:t>CONTRIBUTION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2220" y="1496324"/>
            <a:ext cx="5372100" cy="1397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2220" y="1560332"/>
            <a:ext cx="5372100" cy="20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Open-weight proof that visual question answering can run on self-hosted hardware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Shows synthetic instruction data is enough to teach visual conversation cheaply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Gives a reproducible reference architecture we could realistically deploy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Removes any dependency on a paid API for the explanation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1437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9B4A2A"/>
                </a:solidFill>
                <a:latin typeface="Calibri"/>
              </a:rPr>
              <a:t>LIMITATION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79554"/>
            <a:ext cx="5372100" cy="13970"/>
          </a:xfrm>
          <a:prstGeom prst="rect">
            <a:avLst/>
          </a:prstGeom>
          <a:solidFill>
            <a:srgbClr val="9B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543562"/>
            <a:ext cx="53721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Not construction-specific and untested on low-resolution CCTV crops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Weaker than closed models on fine detail such as a partly hidden strap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Ungrounded by default; it answers even with no supporting visual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421437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HOW WE USE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2220" y="447955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2220" y="4543562"/>
            <a:ext cx="53721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Our open-weight option if evidence crops cannot be sent to an external API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Its grounding weakness motivates an overlap check between answer and evidence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Baseline for the idea of explaining an evidence crop in plain language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Yang et al.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 i="0">
                <a:solidFill>
                  <a:srgbClr val="6B5E52"/>
                </a:solidFill>
                <a:latin typeface="Calibri"/>
              </a:rPr>
              <a:t>Qwen2.5 Technical Report   |   Open-weight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114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9632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60332"/>
            <a:ext cx="5372100" cy="20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Open-weight language model family spanning roughly 0.5 to 72 billion parameters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Large-scale pretraining followed by a long post-training stage for instructions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Small variants explicitly targeted at resource-constrained deployment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Reports structured-output and instruction-adherence benchmarks, not only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2220" y="123114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2F6F4E"/>
                </a:solidFill>
                <a:latin typeface="Calibri"/>
              </a:rPr>
              <a:t>CONTRIBUTION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2220" y="1496324"/>
            <a:ext cx="5372100" cy="1397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2220" y="1560332"/>
            <a:ext cx="5372100" cy="20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A 1.5 billion parameter model small enough to fine-tune with LoRA on one GPU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Open weights let the narration layer run entirely inside our own deployment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Reliable structured output makes template-constrained narration feasible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Small enough that the whole narration layer stays inside our own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1437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9B4A2A"/>
                </a:solidFill>
                <a:latin typeface="Calibri"/>
              </a:rPr>
              <a:t>LIMITATION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79554"/>
            <a:ext cx="5372100" cy="13970"/>
          </a:xfrm>
          <a:prstGeom prst="rect">
            <a:avLst/>
          </a:prstGeom>
          <a:solidFill>
            <a:srgbClr val="9B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543562"/>
            <a:ext cx="53721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Text-only at the size we can afford, so it cannot look at an evidence crop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Small models invent detail more readily than their larger siblings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Cannot replace any part of the computer vision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4214378"/>
            <a:ext cx="53721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1" i="0">
                <a:solidFill>
                  <a:srgbClr val="8B5E3C"/>
                </a:solidFill>
                <a:latin typeface="Calibri"/>
              </a:rPr>
              <a:t>HOW WE USE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2220" y="4479554"/>
            <a:ext cx="53721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2220" y="4543562"/>
            <a:ext cx="53721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Base model for our LoRA narration experiment over incident cards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Receives only the structured card fields as text, never the raw image</a:t>
            </a:r>
          </a:p>
          <a:p>
            <a:pPr marL="146050" indent="-146050">
              <a:spcBef>
                <a:spcPts val="500"/>
              </a:spcBef>
            </a:pPr>
            <a:r>
              <a:rPr sz="1400" b="0" i="0">
                <a:solidFill>
                  <a:srgbClr val="3A3530"/>
                </a:solidFill>
                <a:latin typeface="Calibri"/>
              </a:rPr>
              <a:t>•   Its invention risk is why narration is template-constrained and evidence-checked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No single paper delivers the whole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 i="0">
                <a:solidFill>
                  <a:srgbClr val="6B5E52"/>
                </a:solidFill>
                <a:latin typeface="Calibri"/>
              </a:rPr>
              <a:t>Each gap below is drawn from the survey, paired with the design decision it forced.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256479"/>
              </p:ext>
            </p:extLst>
          </p:nvPr>
        </p:nvGraphicFramePr>
        <p:xfrm>
          <a:off x="502920" y="1280160"/>
          <a:ext cx="1120140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Gap in the literature</a:t>
                      </a:r>
                    </a:p>
                  </a:txBody>
                  <a:tcPr marR="73152" anchor="ctr">
                    <a:solidFill>
                      <a:srgbClr val="2C25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Where we saw it</a:t>
                      </a:r>
                    </a:p>
                  </a:txBody>
                  <a:tcPr marR="73152" anchor="ctr">
                    <a:solidFill>
                      <a:srgbClr val="2C25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Our design response</a:t>
                      </a:r>
                    </a:p>
                  </a:txBody>
                  <a:tcPr marR="73152" anchor="ctr">
                    <a:solidFill>
                      <a:srgbClr val="2C2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Alerts instead of records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Fang 2018 survey; Wu 2019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Incident cards with worker, rule, time range and evidence crop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No identity or duration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Nath 2020; Luo 2018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dirty="0" err="1">
                          <a:solidFill>
                            <a:srgbClr val="3A3530"/>
                          </a:solidFill>
                          <a:latin typeface="Calibri"/>
                        </a:rPr>
                        <a:t>ByteTrack</a:t>
                      </a:r>
                      <a:r>
                        <a:rPr sz="1150" b="0" i="0" dirty="0">
                          <a:solidFill>
                            <a:srgbClr val="3A3530"/>
                          </a:solidFill>
                          <a:latin typeface="Calibri"/>
                        </a:rPr>
                        <a:t> identities plus duration thresholds in rules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0" i="0" dirty="0">
                          <a:solidFill>
                            <a:srgbClr val="3A3530"/>
                          </a:solidFill>
                          <a:latin typeface="Calibri"/>
                        </a:rPr>
                        <a:t>No visual evidence kept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Sanhudo 2021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dirty="0">
                          <a:solidFill>
                            <a:srgbClr val="3A3530"/>
                          </a:solidFill>
                          <a:latin typeface="Calibri"/>
                        </a:rPr>
                        <a:t>Best-frame crop stored with every incident for verification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No link to regulation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Fang 2018 survey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Retrieval-based briefing generated after the incident exists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Ungrounded explanation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3530"/>
                          </a:solidFill>
                          <a:latin typeface="Calibri"/>
                        </a:rPr>
                        <a:t>Achiam 2023; Liu 2023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dirty="0">
                          <a:solidFill>
                            <a:srgbClr val="3A3530"/>
                          </a:solidFill>
                          <a:latin typeface="Calibri"/>
                        </a:rPr>
                        <a:t>Guardrail, evidence-overlap check, and refusal of legal verdicts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Every component is measured on its 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21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0" i="0">
                <a:solidFill>
                  <a:srgbClr val="6B5E52"/>
                </a:solidFill>
                <a:latin typeface="Calibri"/>
              </a:rPr>
              <a:t>This prevents a weak stage from hiding behind a convincing final demo.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20140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R="73152" anchor="ctr">
                    <a:solidFill>
                      <a:srgbClr val="2C25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R="73152" anchor="ctr">
                    <a:solidFill>
                      <a:srgbClr val="2C25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Evaluated on</a:t>
                      </a:r>
                    </a:p>
                  </a:txBody>
                  <a:tcPr marR="73152" anchor="ctr">
                    <a:solidFill>
                      <a:srgbClr val="2C25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Why this metric</a:t>
                      </a:r>
                    </a:p>
                  </a:txBody>
                  <a:tcPr marR="73152" anchor="ctr">
                    <a:solidFill>
                      <a:srgbClr val="2C2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Detection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mAP@50 and mAP@50-95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Held-out site frames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Per-class, so small PPE objects cannot hide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Tracking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IDF1 and identity switches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Hand-checked worker tracks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Switches counted manually on short clips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PPE head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Macro-F1 and unknown rate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Held-out worker crops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A high unknown rate is acceptable, a wrong call is not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3A3530"/>
                          </a:solidFill>
                          <a:latin typeface="Calibri"/>
                        </a:rPr>
                        <a:t>Rule engine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Incident precision and recall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Annotated clips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Scored against human-marked incidents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Language layer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Unsupported-claim rate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Generated briefings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Plus refusal rate on legal-verdict prompts</a:t>
                      </a:r>
                    </a:p>
                  </a:txBody>
                  <a:tcPr marR="73152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Usability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Time to understand one incident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A3530"/>
                          </a:solidFill>
                          <a:latin typeface="Calibri"/>
                        </a:rPr>
                        <a:t>New users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3A3530"/>
                          </a:solidFill>
                          <a:latin typeface="Calibri"/>
                        </a:rPr>
                        <a:t>Measured on a first-time reviewer, not on us</a:t>
                      </a:r>
                    </a:p>
                  </a:txBody>
                  <a:tcPr marR="73152" anchor="ctr">
                    <a:solidFill>
                      <a:srgbClr val="F7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669280"/>
            <a:ext cx="11201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5E52"/>
                </a:solidFill>
                <a:latin typeface="Calibri"/>
              </a:rPr>
              <a:t>No results are claimed at mid-review. This slide states what we will report and on which held-out data.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C2520"/>
                </a:solidFill>
                <a:latin typeface="Calibri"/>
              </a:rPr>
              <a:t>Where we are and what comes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05256"/>
            <a:ext cx="11247120" cy="12700"/>
          </a:xfrm>
          <a:prstGeom prst="rect">
            <a:avLst/>
          </a:prstGeom>
          <a:solidFill>
            <a:srgbClr val="CC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588861"/>
            <a:ext cx="11201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8B5E3C"/>
                </a:solidFill>
                <a:latin typeface="Calibri"/>
              </a:rPr>
              <a:t>IN ONE SENTENCE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54037"/>
            <a:ext cx="11201400" cy="1397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918045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indent="-146050">
              <a:spcBef>
                <a:spcPts val="0"/>
              </a:spcBef>
            </a:pPr>
            <a:r>
              <a:rPr sz="1600" b="0" i="0" dirty="0">
                <a:solidFill>
                  <a:srgbClr val="3A3530"/>
                </a:solidFill>
                <a:latin typeface="Calibri"/>
              </a:rPr>
              <a:t>Computer vision finds the incident and owns the evidence</a:t>
            </a:r>
            <a:r>
              <a:rPr lang="en-US" sz="1600" dirty="0">
                <a:solidFill>
                  <a:srgbClr val="3A3530"/>
                </a:solidFill>
                <a:latin typeface="Calibri"/>
              </a:rPr>
              <a:t> </a:t>
            </a:r>
          </a:p>
          <a:p>
            <a:pPr marL="146050" indent="-146050">
              <a:spcBef>
                <a:spcPts val="0"/>
              </a:spcBef>
            </a:pPr>
            <a:r>
              <a:rPr lang="en-US" sz="1600" dirty="0">
                <a:solidFill>
                  <a:srgbClr val="3A3530"/>
                </a:solidFill>
                <a:latin typeface="Calibri"/>
              </a:rPr>
              <a:t>T</a:t>
            </a:r>
            <a:r>
              <a:rPr sz="1600" b="0" i="0" dirty="0">
                <a:solidFill>
                  <a:srgbClr val="3A3530"/>
                </a:solidFill>
                <a:latin typeface="Calibri"/>
              </a:rPr>
              <a:t>he site view shows where it happened, and the language model explains it without ever deciding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4001</Words>
  <Application>Microsoft Macintosh PowerPoint</Application>
  <PresentationFormat>Custom</PresentationFormat>
  <Paragraphs>463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lk594</cp:lastModifiedBy>
  <cp:revision>7</cp:revision>
  <dcterms:created xsi:type="dcterms:W3CDTF">2013-01-27T09:14:16Z</dcterms:created>
  <dcterms:modified xsi:type="dcterms:W3CDTF">2026-09-26T16:12:35Z</dcterms:modified>
  <cp:category/>
</cp:coreProperties>
</file>